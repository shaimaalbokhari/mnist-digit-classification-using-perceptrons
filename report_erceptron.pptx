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2472" y="4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2000" y="488695"/>
            <a:ext cx="3793998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67" y="488695"/>
            <a:ext cx="682413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200" dirty="0"/>
              <a:t>Report</a:t>
            </a:r>
            <a:r>
              <a:rPr sz="2800" spc="-10" dirty="0"/>
              <a:t>  </a:t>
            </a:r>
            <a:r>
              <a:rPr sz="2800" spc="315" dirty="0"/>
              <a:t>of</a:t>
            </a:r>
            <a:r>
              <a:rPr sz="2800" spc="-5" dirty="0"/>
              <a:t>  </a:t>
            </a:r>
            <a:r>
              <a:rPr lang="en-US" sz="2800" spc="-5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Pe</a:t>
            </a:r>
            <a:r>
              <a:rPr sz="2800" spc="180" dirty="0" err="1">
                <a:solidFill>
                  <a:schemeClr val="accent1"/>
                </a:solidFill>
                <a:latin typeface="Trebuchet MS" panose="020B0603020202020204" pitchFamily="34" charset="0"/>
              </a:rPr>
              <a:t>r</a:t>
            </a:r>
            <a:r>
              <a:rPr sz="2800" spc="180" dirty="0" err="1">
                <a:solidFill>
                  <a:schemeClr val="accent1"/>
                </a:solidFill>
              </a:rPr>
              <a:t>ceptrons</a:t>
            </a:r>
            <a:endParaRPr sz="2800" spc="180" dirty="0">
              <a:solidFill>
                <a:schemeClr val="accent1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520952"/>
            <a:ext cx="6858000" cy="6350"/>
          </a:xfrm>
          <a:custGeom>
            <a:avLst/>
            <a:gdLst/>
            <a:ahLst/>
            <a:cxnLst/>
            <a:rect l="l" t="t" r="r" b="b"/>
            <a:pathLst>
              <a:path w="6858000" h="6350">
                <a:moveTo>
                  <a:pt x="0" y="0"/>
                </a:moveTo>
                <a:lnTo>
                  <a:pt x="0" y="6096"/>
                </a:lnTo>
                <a:lnTo>
                  <a:pt x="6858000" y="6096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84551-37BA-9916-4DE6-6538849F677D}"/>
              </a:ext>
            </a:extLst>
          </p:cNvPr>
          <p:cNvSpPr txBox="1"/>
          <p:nvPr/>
        </p:nvSpPr>
        <p:spPr>
          <a:xfrm>
            <a:off x="0" y="984990"/>
            <a:ext cx="68241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95"/>
              </a:spcBef>
              <a:tabLst>
                <a:tab pos="1555750" algn="l"/>
                <a:tab pos="3665854" algn="l"/>
              </a:tabLst>
            </a:pPr>
            <a:r>
              <a:rPr lang="en-US" sz="1600" spc="80" dirty="0">
                <a:latin typeface="Trebuchet MS"/>
                <a:cs typeface="Consolas"/>
              </a:rPr>
              <a:t>By: Shaima Nabeel Albokhari</a:t>
            </a:r>
            <a:endParaRPr lang="en-US" sz="1600" dirty="0">
              <a:latin typeface="Consolas"/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E7B5B-DCA2-C9CC-8BE2-4240D03B206B}"/>
              </a:ext>
            </a:extLst>
          </p:cNvPr>
          <p:cNvSpPr txBox="1"/>
          <p:nvPr/>
        </p:nvSpPr>
        <p:spPr>
          <a:xfrm>
            <a:off x="292100" y="1376128"/>
            <a:ext cx="6506633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Trebuchet MSSans MS"/>
            </a:endParaRPr>
          </a:p>
          <a:p>
            <a:r>
              <a:rPr lang="en-US" sz="2000" dirty="0">
                <a:latin typeface="Trebuchet MSSans MS"/>
              </a:rPr>
              <a:t>The experiment involved training a multi-class perceptron model on the MNIST dataset to classify handwritten digits (0-9). The dataset was split into training and test sets, and pixel values were normalized to the range [0, 1]. A bias term was added to the feature vectors, and binary labels were created for each digit to train 10 separate </a:t>
            </a:r>
            <a:r>
              <a:rPr lang="en-US" sz="2000" dirty="0" err="1">
                <a:latin typeface="Trebuchet MSSans MS"/>
              </a:rPr>
              <a:t>perceptrons</a:t>
            </a:r>
            <a:r>
              <a:rPr lang="en-US" sz="2000" dirty="0">
                <a:latin typeface="Trebuchet MSSans MS"/>
              </a:rPr>
              <a:t> (one for each digit).</a:t>
            </a:r>
          </a:p>
          <a:p>
            <a:r>
              <a:rPr lang="en-US" sz="2000" dirty="0">
                <a:latin typeface="Trebuchet MSSans MS"/>
              </a:rPr>
              <a:t>The model was trained using three different learning rates (0.001, 0.01, and 0.1) over 50 epochs, and the training and test accuracies were recorded for each learning rate.</a:t>
            </a:r>
          </a:p>
          <a:p>
            <a:r>
              <a:rPr lang="en-US" sz="2000" dirty="0">
                <a:latin typeface="Trebuchet MSSans MS"/>
              </a:rPr>
              <a:t>A custom confusion matrix was implemented to evaluate the model's performance, and the results were visualized using heatmaps.</a:t>
            </a:r>
          </a:p>
          <a:p>
            <a:r>
              <a:rPr lang="en-US" sz="2000" dirty="0">
                <a:latin typeface="Trebuchet MSSans MS"/>
              </a:rPr>
              <a:t>The experiment revealed that a learning rate of 0.1 resulted in less confusion between digits compared to</a:t>
            </a:r>
          </a:p>
          <a:p>
            <a:r>
              <a:rPr lang="en-US" sz="2000" dirty="0">
                <a:latin typeface="Trebuchet MSSans MS"/>
              </a:rPr>
              <a:t>0.001 and 0.01, suggesting that a larger learning rate updates weights more precisely. However, the small dataset size limited the generalizability of the results, and further experimentation with larger datasets, cross-validation, and intermediate learning rates was</a:t>
            </a:r>
          </a:p>
          <a:p>
            <a:r>
              <a:rPr lang="en-US" sz="2000" dirty="0">
                <a:latin typeface="Trebuchet MSSans MS"/>
              </a:rPr>
              <a:t>recommended to determine the optimal learning 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29894"/>
            <a:ext cx="367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rebuchet MSSans MS"/>
                <a:cs typeface="Comic Sans MS"/>
              </a:rPr>
              <a:t>For</a:t>
            </a:r>
            <a:r>
              <a:rPr sz="2400" spc="-4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0.001</a:t>
            </a:r>
            <a:r>
              <a:rPr sz="2400" spc="-4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learning</a:t>
            </a:r>
            <a:r>
              <a:rPr sz="2400" spc="-35" dirty="0">
                <a:latin typeface="Trebuchet MSSans MS"/>
                <a:cs typeface="Comic Sans MS"/>
              </a:rPr>
              <a:t> </a:t>
            </a:r>
            <a:r>
              <a:rPr sz="2400" spc="-10" dirty="0">
                <a:latin typeface="Trebuchet MSSans MS"/>
                <a:cs typeface="Comic Sans MS"/>
              </a:rPr>
              <a:t>rate:</a:t>
            </a:r>
            <a:endParaRPr sz="2400">
              <a:latin typeface="Trebuchet MS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29" y="1103194"/>
            <a:ext cx="3268999" cy="1782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" y="2977895"/>
            <a:ext cx="3320796" cy="617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1064" y="1046757"/>
            <a:ext cx="3066085" cy="26748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1924" y="3923538"/>
            <a:ext cx="6146800" cy="450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454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rebuchet MSSans MS"/>
                <a:cs typeface="Comic Sans MS"/>
              </a:rPr>
              <a:t>which</a:t>
            </a:r>
            <a:r>
              <a:rPr sz="2000" spc="-3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digits</a:t>
            </a:r>
            <a:r>
              <a:rPr sz="2000" spc="-2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are</a:t>
            </a:r>
            <a:r>
              <a:rPr sz="2000" spc="-1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classified</a:t>
            </a:r>
            <a:r>
              <a:rPr sz="2000" spc="-1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most</a:t>
            </a:r>
            <a:r>
              <a:rPr sz="2000" spc="-30" dirty="0">
                <a:latin typeface="Trebuchet MSSans MS"/>
                <a:cs typeface="Comic Sans MS"/>
              </a:rPr>
              <a:t> </a:t>
            </a:r>
            <a:r>
              <a:rPr sz="2000" spc="-10" dirty="0">
                <a:latin typeface="Trebuchet MSSans MS"/>
                <a:cs typeface="Comic Sans MS"/>
              </a:rPr>
              <a:t>accurately?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highly</a:t>
            </a:r>
            <a:r>
              <a:rPr sz="18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ranked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9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1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the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correct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classifications</a:t>
            </a:r>
            <a:r>
              <a:rPr sz="1800" spc="-5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being</a:t>
            </a:r>
            <a:r>
              <a:rPr sz="1800" spc="-10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1070.</a:t>
            </a:r>
            <a:endParaRPr sz="1800" dirty="0">
              <a:latin typeface="Trebuchet MSSans MS"/>
              <a:cs typeface="Comic Sans MS"/>
            </a:endParaRPr>
          </a:p>
          <a:p>
            <a:pPr marL="12700" marR="686435">
              <a:lnSpc>
                <a:spcPct val="100000"/>
              </a:lnSpc>
            </a:pPr>
            <a:r>
              <a:rPr sz="2000" dirty="0">
                <a:latin typeface="Trebuchet MSSans MS"/>
                <a:cs typeface="Comic Sans MS"/>
              </a:rPr>
              <a:t>and</a:t>
            </a:r>
            <a:r>
              <a:rPr sz="2000" spc="-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which</a:t>
            </a:r>
            <a:r>
              <a:rPr sz="2000" spc="-3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digits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tend</a:t>
            </a:r>
            <a:r>
              <a:rPr sz="2000" spc="-1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to</a:t>
            </a:r>
            <a:r>
              <a:rPr sz="2000" spc="-1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be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confused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with</a:t>
            </a:r>
            <a:r>
              <a:rPr sz="2000" spc="-25" dirty="0">
                <a:latin typeface="Trebuchet MSSans MS"/>
                <a:cs typeface="Comic Sans MS"/>
              </a:rPr>
              <a:t> one </a:t>
            </a:r>
            <a:r>
              <a:rPr sz="2000" spc="-10" dirty="0">
                <a:latin typeface="Trebuchet MSSans MS"/>
                <a:cs typeface="Comic Sans MS"/>
              </a:rPr>
              <a:t>another?</a:t>
            </a:r>
            <a:endParaRPr sz="2000" dirty="0">
              <a:latin typeface="Trebuchet MSSans MS"/>
              <a:cs typeface="Comic Sans MS"/>
            </a:endParaRPr>
          </a:p>
          <a:p>
            <a:pPr marL="12700" marR="16097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classified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8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1.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every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one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another.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18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is:</a:t>
            </a:r>
            <a:endParaRPr sz="1800" dirty="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  <a:tabLst>
                <a:tab pos="927100" algn="l"/>
              </a:tabLst>
            </a:pP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1.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	(4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9)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195</a:t>
            </a:r>
            <a:endParaRPr sz="1800" dirty="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  <a:tabLst>
                <a:tab pos="927100" algn="l"/>
              </a:tabLst>
            </a:pP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2.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	(9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7)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86</a:t>
            </a:r>
            <a:endParaRPr sz="1800" dirty="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  <a:tabLst>
                <a:tab pos="927100" algn="l"/>
              </a:tabLst>
            </a:pP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3.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	(4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7)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85</a:t>
            </a:r>
            <a:endParaRPr sz="1800" dirty="0">
              <a:latin typeface="Trebuchet MSSans MS"/>
              <a:cs typeface="Comic Sans MS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less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(0,1)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(1,0)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zero,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also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(3,4)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(4,3)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zero.</a:t>
            </a:r>
            <a:endParaRPr sz="1800" dirty="0">
              <a:latin typeface="Trebuchet MSSans MS"/>
              <a:cs typeface="Comic Sans MS"/>
            </a:endParaRPr>
          </a:p>
          <a:p>
            <a:pPr marL="299085" marR="76200" indent="-28702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rebuchet MSSans MS"/>
                <a:cs typeface="Comic Sans MS"/>
              </a:rPr>
              <a:t>When</a:t>
            </a:r>
            <a:r>
              <a:rPr sz="1800" spc="-3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the</a:t>
            </a:r>
            <a:r>
              <a:rPr sz="1800" spc="-40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learning</a:t>
            </a:r>
            <a:r>
              <a:rPr sz="1800" spc="-50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rate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is</a:t>
            </a:r>
            <a:r>
              <a:rPr sz="1800" spc="-1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0.01,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the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number</a:t>
            </a:r>
            <a:r>
              <a:rPr sz="1800" spc="-4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of</a:t>
            </a:r>
            <a:r>
              <a:rPr sz="1800" spc="-30" dirty="0">
                <a:latin typeface="Trebuchet MSSans MS"/>
                <a:cs typeface="Comic Sans MS"/>
              </a:rPr>
              <a:t> </a:t>
            </a:r>
            <a:r>
              <a:rPr sz="1800" spc="-10" dirty="0">
                <a:latin typeface="Trebuchet MSSans MS"/>
                <a:cs typeface="Comic Sans MS"/>
              </a:rPr>
              <a:t>correct </a:t>
            </a:r>
            <a:r>
              <a:rPr sz="1800" dirty="0">
                <a:latin typeface="Trebuchet MSSans MS"/>
                <a:cs typeface="Comic Sans MS"/>
              </a:rPr>
              <a:t>predictions</a:t>
            </a:r>
            <a:r>
              <a:rPr sz="1800" spc="-4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is</a:t>
            </a:r>
            <a:r>
              <a:rPr sz="1800" spc="-10" dirty="0">
                <a:latin typeface="Trebuchet MSSans MS"/>
                <a:cs typeface="Comic Sans MS"/>
              </a:rPr>
              <a:t> 8,758.</a:t>
            </a:r>
            <a:endParaRPr sz="1800" dirty="0">
              <a:latin typeface="Trebuchet MS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924" y="8722498"/>
            <a:ext cx="3187700" cy="3468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Note:</a:t>
            </a:r>
            <a:r>
              <a:rPr sz="2000" spc="-15" dirty="0">
                <a:solidFill>
                  <a:srgbClr val="C00000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(actual</a:t>
            </a:r>
            <a:r>
              <a:rPr sz="2000" spc="-10" dirty="0">
                <a:solidFill>
                  <a:srgbClr val="C00000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,</a:t>
            </a:r>
            <a:r>
              <a:rPr sz="2000" spc="-10" dirty="0">
                <a:solidFill>
                  <a:srgbClr val="C00000"/>
                </a:solidFill>
                <a:latin typeface="Trebuchet MSSans MS"/>
                <a:cs typeface="Comic Sans MS"/>
              </a:rPr>
              <a:t> predicated)</a:t>
            </a:r>
            <a:endParaRPr sz="2000" dirty="0">
              <a:latin typeface="Trebuchet MS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29894"/>
            <a:ext cx="348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rebuchet MSSans MS"/>
                <a:cs typeface="Comic Sans MS"/>
              </a:rPr>
              <a:t>For</a:t>
            </a:r>
            <a:r>
              <a:rPr sz="2400" spc="-5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0.01</a:t>
            </a:r>
            <a:r>
              <a:rPr sz="2400" spc="-5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learning</a:t>
            </a:r>
            <a:r>
              <a:rPr sz="2400" spc="-45" dirty="0">
                <a:latin typeface="Trebuchet MSSans MS"/>
                <a:cs typeface="Comic Sans MS"/>
              </a:rPr>
              <a:t> </a:t>
            </a:r>
            <a:r>
              <a:rPr sz="2400" spc="-10" dirty="0">
                <a:latin typeface="Trebuchet MSSans MS"/>
                <a:cs typeface="Comic Sans MS"/>
              </a:rPr>
              <a:t>rate:</a:t>
            </a:r>
            <a:endParaRPr sz="2400">
              <a:latin typeface="Trebuchet MS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29" y="1103194"/>
            <a:ext cx="3268999" cy="1782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" y="2977895"/>
            <a:ext cx="3320796" cy="617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1064" y="1046757"/>
            <a:ext cx="3066085" cy="26748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1924" y="3923538"/>
            <a:ext cx="6075680" cy="4234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7434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rebuchet MSSans MS"/>
                <a:cs typeface="Comic Sans MS"/>
              </a:rPr>
              <a:t>which</a:t>
            </a:r>
            <a:r>
              <a:rPr sz="2000" spc="-3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digits</a:t>
            </a:r>
            <a:r>
              <a:rPr sz="2000" spc="-2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are</a:t>
            </a:r>
            <a:r>
              <a:rPr sz="2000" spc="-1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classified</a:t>
            </a:r>
            <a:r>
              <a:rPr sz="2000" spc="-1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most</a:t>
            </a:r>
            <a:r>
              <a:rPr sz="2000" spc="-30" dirty="0">
                <a:latin typeface="Trebuchet MSSans MS"/>
                <a:cs typeface="Comic Sans MS"/>
              </a:rPr>
              <a:t> </a:t>
            </a:r>
            <a:r>
              <a:rPr sz="2000" spc="-10" dirty="0">
                <a:latin typeface="Trebuchet MSSans MS"/>
                <a:cs typeface="Comic Sans MS"/>
              </a:rPr>
              <a:t>accurately?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highly</a:t>
            </a:r>
            <a:r>
              <a:rPr sz="18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ranked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9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1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the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correct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classifications</a:t>
            </a:r>
            <a:r>
              <a:rPr sz="1800" spc="-5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being</a:t>
            </a:r>
            <a:r>
              <a:rPr sz="1800" spc="-10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1095.</a:t>
            </a:r>
            <a:endParaRPr sz="1800">
              <a:latin typeface="Trebuchet MSSans MS"/>
              <a:cs typeface="Comic Sans MS"/>
            </a:endParaRPr>
          </a:p>
          <a:p>
            <a:pPr marL="12700" marR="615315">
              <a:lnSpc>
                <a:spcPct val="100000"/>
              </a:lnSpc>
            </a:pPr>
            <a:r>
              <a:rPr sz="2000" dirty="0">
                <a:latin typeface="Trebuchet MSSans MS"/>
                <a:cs typeface="Comic Sans MS"/>
              </a:rPr>
              <a:t>and</a:t>
            </a:r>
            <a:r>
              <a:rPr sz="2000" spc="-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which</a:t>
            </a:r>
            <a:r>
              <a:rPr sz="2000" spc="-3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digits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tend</a:t>
            </a:r>
            <a:r>
              <a:rPr sz="2000" spc="-1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to</a:t>
            </a:r>
            <a:r>
              <a:rPr sz="2000" spc="-1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be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confused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with</a:t>
            </a:r>
            <a:r>
              <a:rPr sz="2000" spc="-25" dirty="0">
                <a:latin typeface="Trebuchet MSSans MS"/>
                <a:cs typeface="Comic Sans MS"/>
              </a:rPr>
              <a:t> one </a:t>
            </a:r>
            <a:r>
              <a:rPr sz="2000" spc="-10" dirty="0">
                <a:latin typeface="Trebuchet MSSans MS"/>
                <a:cs typeface="Comic Sans MS"/>
              </a:rPr>
              <a:t>another?</a:t>
            </a:r>
            <a:endParaRPr sz="2000">
              <a:latin typeface="Trebuchet MSSans MS"/>
              <a:cs typeface="Comic Sans MS"/>
            </a:endParaRPr>
          </a:p>
          <a:p>
            <a:pPr marL="12700" marR="15386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classified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8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1.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every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one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another.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18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is:</a:t>
            </a:r>
            <a:endParaRPr sz="180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  <a:tabLst>
                <a:tab pos="812800" algn="l"/>
              </a:tabLst>
            </a:pP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1.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	(5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3)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229</a:t>
            </a:r>
            <a:endParaRPr sz="180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2.</a:t>
            </a:r>
            <a:r>
              <a:rPr sz="1800" spc="25" dirty="0">
                <a:solidFill>
                  <a:srgbClr val="4471C4"/>
                </a:solidFill>
                <a:latin typeface="Trebuchet MSSans MS"/>
                <a:cs typeface="Comic Sans MS"/>
              </a:rPr>
              <a:t> 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(8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3)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97</a:t>
            </a:r>
            <a:endParaRPr sz="180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3.</a:t>
            </a:r>
            <a:r>
              <a:rPr sz="1800" spc="25" dirty="0">
                <a:solidFill>
                  <a:srgbClr val="4471C4"/>
                </a:solidFill>
                <a:latin typeface="Trebuchet MSSans MS"/>
                <a:cs typeface="Comic Sans MS"/>
              </a:rPr>
              <a:t> 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(4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9)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55</a:t>
            </a:r>
            <a:endParaRPr sz="1800">
              <a:latin typeface="Trebuchet MS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less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(0,1)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or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(1,0)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zero.</a:t>
            </a:r>
            <a:endParaRPr sz="1800">
              <a:latin typeface="Trebuchet MSSans MS"/>
              <a:cs typeface="Comic Sans MS"/>
            </a:endParaRPr>
          </a:p>
          <a:p>
            <a:pPr marL="299085" marR="5080" indent="-287020">
              <a:lnSpc>
                <a:spcPct val="100000"/>
              </a:lnSpc>
              <a:spcBef>
                <a:spcPts val="216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Trebuchet MSSans MS"/>
                <a:cs typeface="Comic Sans MS"/>
              </a:rPr>
              <a:t>When</a:t>
            </a:r>
            <a:r>
              <a:rPr sz="1800" spc="-3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the</a:t>
            </a:r>
            <a:r>
              <a:rPr sz="1800" spc="-40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learning</a:t>
            </a:r>
            <a:r>
              <a:rPr sz="1800" spc="-50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rate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is</a:t>
            </a:r>
            <a:r>
              <a:rPr sz="1800" spc="-1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0.01,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the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number</a:t>
            </a:r>
            <a:r>
              <a:rPr sz="1800" spc="-4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of</a:t>
            </a:r>
            <a:r>
              <a:rPr sz="1800" spc="-30" dirty="0">
                <a:latin typeface="Trebuchet MSSans MS"/>
                <a:cs typeface="Comic Sans MS"/>
              </a:rPr>
              <a:t> </a:t>
            </a:r>
            <a:r>
              <a:rPr sz="1800" spc="-10" dirty="0">
                <a:latin typeface="Trebuchet MSSans MS"/>
                <a:cs typeface="Comic Sans MS"/>
              </a:rPr>
              <a:t>correct </a:t>
            </a:r>
            <a:r>
              <a:rPr sz="1800" dirty="0">
                <a:latin typeface="Trebuchet MSSans MS"/>
                <a:cs typeface="Comic Sans MS"/>
              </a:rPr>
              <a:t>predictions</a:t>
            </a:r>
            <a:r>
              <a:rPr sz="1800" spc="-4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is</a:t>
            </a:r>
            <a:r>
              <a:rPr sz="1800" spc="-10" dirty="0">
                <a:latin typeface="Trebuchet MSSans MS"/>
                <a:cs typeface="Comic Sans MS"/>
              </a:rPr>
              <a:t> 8,832.</a:t>
            </a:r>
            <a:endParaRPr sz="1800">
              <a:latin typeface="Trebuchet MS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924" y="8722498"/>
            <a:ext cx="3187700" cy="3468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Note:</a:t>
            </a:r>
            <a:r>
              <a:rPr sz="2000" spc="-15" dirty="0">
                <a:solidFill>
                  <a:srgbClr val="C00000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(actual</a:t>
            </a:r>
            <a:r>
              <a:rPr sz="2000" spc="-10" dirty="0">
                <a:solidFill>
                  <a:srgbClr val="C00000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,</a:t>
            </a:r>
            <a:r>
              <a:rPr sz="2000" spc="-10" dirty="0">
                <a:solidFill>
                  <a:srgbClr val="C00000"/>
                </a:solidFill>
                <a:latin typeface="Trebuchet MSSans MS"/>
                <a:cs typeface="Comic Sans MS"/>
              </a:rPr>
              <a:t> predicated)</a:t>
            </a:r>
            <a:endParaRPr sz="2000" dirty="0">
              <a:latin typeface="Trebuchet MS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68883"/>
            <a:ext cx="3299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rebuchet MSSans MS"/>
                <a:cs typeface="Comic Sans MS"/>
              </a:rPr>
              <a:t>For</a:t>
            </a:r>
            <a:r>
              <a:rPr sz="2400" spc="-4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0.1</a:t>
            </a:r>
            <a:r>
              <a:rPr sz="2400" spc="-5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learning</a:t>
            </a:r>
            <a:r>
              <a:rPr sz="2400" spc="-45" dirty="0">
                <a:latin typeface="Trebuchet MSSans MS"/>
                <a:cs typeface="Comic Sans MS"/>
              </a:rPr>
              <a:t> </a:t>
            </a:r>
            <a:r>
              <a:rPr sz="2400" spc="-10" dirty="0">
                <a:latin typeface="Trebuchet MSSans MS"/>
                <a:cs typeface="Comic Sans MS"/>
              </a:rPr>
              <a:t>rate:</a:t>
            </a:r>
            <a:endParaRPr sz="2400">
              <a:latin typeface="Trebuchet MS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29" y="1103194"/>
            <a:ext cx="3268999" cy="1782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" y="2977895"/>
            <a:ext cx="3320796" cy="617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1064" y="1046757"/>
            <a:ext cx="3066085" cy="26748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1924" y="3961841"/>
            <a:ext cx="6146800" cy="4562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45465">
              <a:lnSpc>
                <a:spcPct val="100200"/>
              </a:lnSpc>
              <a:spcBef>
                <a:spcPts val="100"/>
              </a:spcBef>
            </a:pPr>
            <a:r>
              <a:rPr sz="2000" dirty="0">
                <a:latin typeface="Trebuchet MSSans MS"/>
                <a:cs typeface="Comic Sans MS"/>
              </a:rPr>
              <a:t>which</a:t>
            </a:r>
            <a:r>
              <a:rPr sz="2000" spc="-3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digits</a:t>
            </a:r>
            <a:r>
              <a:rPr sz="2000" spc="-1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are</a:t>
            </a:r>
            <a:r>
              <a:rPr sz="2000" spc="-1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classified</a:t>
            </a:r>
            <a:r>
              <a:rPr sz="2000" spc="-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most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spc="-10" dirty="0">
                <a:latin typeface="Trebuchet MSSans MS"/>
                <a:cs typeface="Comic Sans MS"/>
              </a:rPr>
              <a:t>accurately?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highly</a:t>
            </a:r>
            <a:r>
              <a:rPr sz="18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ranked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9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1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the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correct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classifications</a:t>
            </a:r>
            <a:r>
              <a:rPr sz="1800" spc="-5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being</a:t>
            </a:r>
            <a:r>
              <a:rPr sz="1800" spc="-10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1114.</a:t>
            </a:r>
            <a:endParaRPr sz="1800">
              <a:latin typeface="Trebuchet MSSans MS"/>
              <a:cs typeface="Comic Sans MS"/>
            </a:endParaRPr>
          </a:p>
          <a:p>
            <a:pPr marL="12700" marR="686435">
              <a:lnSpc>
                <a:spcPts val="2400"/>
              </a:lnSpc>
              <a:spcBef>
                <a:spcPts val="70"/>
              </a:spcBef>
            </a:pPr>
            <a:r>
              <a:rPr sz="2000" dirty="0">
                <a:latin typeface="Trebuchet MSSans MS"/>
                <a:cs typeface="Comic Sans MS"/>
              </a:rPr>
              <a:t>and</a:t>
            </a:r>
            <a:r>
              <a:rPr sz="2000" spc="-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which</a:t>
            </a:r>
            <a:r>
              <a:rPr sz="2000" spc="-3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digits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tend</a:t>
            </a:r>
            <a:r>
              <a:rPr sz="2000" spc="-15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to</a:t>
            </a:r>
            <a:r>
              <a:rPr sz="2000" spc="-1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be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confused</a:t>
            </a:r>
            <a:r>
              <a:rPr sz="2000" spc="-20" dirty="0">
                <a:latin typeface="Trebuchet MSSans MS"/>
                <a:cs typeface="Comic Sans MS"/>
              </a:rPr>
              <a:t> </a:t>
            </a:r>
            <a:r>
              <a:rPr sz="2000" dirty="0">
                <a:latin typeface="Trebuchet MSSans MS"/>
                <a:cs typeface="Comic Sans MS"/>
              </a:rPr>
              <a:t>with</a:t>
            </a:r>
            <a:r>
              <a:rPr sz="2000" spc="-25" dirty="0">
                <a:latin typeface="Trebuchet MSSans MS"/>
                <a:cs typeface="Comic Sans MS"/>
              </a:rPr>
              <a:t> one </a:t>
            </a:r>
            <a:r>
              <a:rPr sz="2000" spc="-10" dirty="0">
                <a:latin typeface="Trebuchet MSSans MS"/>
                <a:cs typeface="Comic Sans MS"/>
              </a:rPr>
              <a:t>another?</a:t>
            </a:r>
            <a:endParaRPr sz="2000">
              <a:latin typeface="Trebuchet MSSans MS"/>
              <a:cs typeface="Comic Sans MS"/>
            </a:endParaRPr>
          </a:p>
          <a:p>
            <a:pPr marL="12700" marR="1609725">
              <a:lnSpc>
                <a:spcPts val="216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classified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8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1.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every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one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another.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most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is:</a:t>
            </a:r>
            <a:endParaRPr sz="1800">
              <a:latin typeface="Trebuchet MSSans MS"/>
              <a:cs typeface="Comic Sans MS"/>
            </a:endParaRPr>
          </a:p>
          <a:p>
            <a:pPr marL="469900">
              <a:lnSpc>
                <a:spcPts val="2090"/>
              </a:lnSpc>
              <a:tabLst>
                <a:tab pos="812800" algn="l"/>
              </a:tabLst>
            </a:pP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1.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	(5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3)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69</a:t>
            </a:r>
            <a:endParaRPr sz="180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2.</a:t>
            </a:r>
            <a:r>
              <a:rPr sz="1800" spc="25" dirty="0">
                <a:solidFill>
                  <a:srgbClr val="4471C4"/>
                </a:solidFill>
                <a:latin typeface="Trebuchet MSSans MS"/>
                <a:cs typeface="Comic Sans MS"/>
              </a:rPr>
              <a:t> 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(5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8)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67</a:t>
            </a:r>
            <a:endParaRPr sz="1800">
              <a:latin typeface="Trebuchet MSSans MS"/>
              <a:cs typeface="Comic Sans MS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3.</a:t>
            </a:r>
            <a:r>
              <a:rPr sz="1800" spc="25" dirty="0">
                <a:solidFill>
                  <a:srgbClr val="4471C4"/>
                </a:solidFill>
                <a:latin typeface="Trebuchet MSSans MS"/>
                <a:cs typeface="Comic Sans MS"/>
              </a:rPr>
              <a:t> 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(4</a:t>
            </a:r>
            <a:r>
              <a:rPr sz="18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,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9)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66</a:t>
            </a:r>
            <a:endParaRPr sz="1800">
              <a:latin typeface="Trebuchet MSSans MS"/>
              <a:cs typeface="Comic Sans MS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less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confused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number</a:t>
            </a:r>
            <a:r>
              <a:rPr sz="18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18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(0,1)</a:t>
            </a:r>
            <a:r>
              <a:rPr sz="18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(1,0)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zero,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also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(9,6)</a:t>
            </a:r>
            <a:r>
              <a:rPr sz="18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or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(6,9)</a:t>
            </a:r>
            <a:r>
              <a:rPr sz="18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dirty="0">
                <a:solidFill>
                  <a:srgbClr val="4471C4"/>
                </a:solidFill>
                <a:latin typeface="Trebuchet MSSans MS"/>
                <a:cs typeface="Comic Sans MS"/>
              </a:rPr>
              <a:t>=</a:t>
            </a:r>
            <a:r>
              <a:rPr sz="18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1800" spc="-10" dirty="0">
                <a:solidFill>
                  <a:srgbClr val="4471C4"/>
                </a:solidFill>
                <a:latin typeface="Trebuchet MSSans MS"/>
                <a:cs typeface="Comic Sans MS"/>
              </a:rPr>
              <a:t>zero.</a:t>
            </a:r>
            <a:endParaRPr sz="1800">
              <a:latin typeface="Trebuchet MS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rebuchet MSSans MS"/>
                <a:cs typeface="Comic Sans MS"/>
              </a:rPr>
              <a:t>When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the</a:t>
            </a:r>
            <a:r>
              <a:rPr sz="1800" spc="-2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learning</a:t>
            </a:r>
            <a:r>
              <a:rPr sz="1800" spc="-4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rate</a:t>
            </a:r>
            <a:r>
              <a:rPr sz="1800" spc="-1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is</a:t>
            </a:r>
            <a:r>
              <a:rPr sz="1800" spc="-1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0.01,</a:t>
            </a:r>
            <a:r>
              <a:rPr sz="1800" spc="-20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the</a:t>
            </a:r>
            <a:r>
              <a:rPr sz="1800" spc="-10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number</a:t>
            </a:r>
            <a:r>
              <a:rPr sz="1800" spc="-4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of</a:t>
            </a:r>
            <a:r>
              <a:rPr sz="1800" spc="-10" dirty="0">
                <a:latin typeface="Trebuchet MSSans MS"/>
                <a:cs typeface="Comic Sans MS"/>
              </a:rPr>
              <a:t> correct</a:t>
            </a:r>
            <a:endParaRPr sz="1800">
              <a:latin typeface="Trebuchet MSSans MS"/>
              <a:cs typeface="Comic Sans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Sans MS"/>
                <a:cs typeface="Comic Sans MS"/>
              </a:rPr>
              <a:t>predictions</a:t>
            </a:r>
            <a:r>
              <a:rPr sz="1800" spc="-35" dirty="0">
                <a:latin typeface="Trebuchet MSSans MS"/>
                <a:cs typeface="Comic Sans MS"/>
              </a:rPr>
              <a:t> </a:t>
            </a:r>
            <a:r>
              <a:rPr sz="1800" dirty="0">
                <a:latin typeface="Trebuchet MSSans MS"/>
                <a:cs typeface="Comic Sans MS"/>
              </a:rPr>
              <a:t>is</a:t>
            </a:r>
            <a:r>
              <a:rPr sz="1800" spc="-10" dirty="0">
                <a:latin typeface="Trebuchet MSSans MS"/>
                <a:cs typeface="Comic Sans MS"/>
              </a:rPr>
              <a:t> </a:t>
            </a:r>
            <a:r>
              <a:rPr sz="1800" spc="-20" dirty="0">
                <a:latin typeface="Trebuchet MSSans MS"/>
                <a:cs typeface="Comic Sans MS"/>
              </a:rPr>
              <a:t>8961.</a:t>
            </a:r>
            <a:endParaRPr sz="1800">
              <a:latin typeface="Trebuchet MS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924" y="8722498"/>
            <a:ext cx="3187700" cy="3468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Note:</a:t>
            </a:r>
            <a:r>
              <a:rPr sz="2000" spc="-15" dirty="0">
                <a:solidFill>
                  <a:srgbClr val="C00000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(actual</a:t>
            </a:r>
            <a:r>
              <a:rPr sz="2000" spc="-10" dirty="0">
                <a:solidFill>
                  <a:srgbClr val="C00000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C00000"/>
                </a:solidFill>
                <a:latin typeface="Trebuchet MSSans MS"/>
                <a:cs typeface="Comic Sans MS"/>
              </a:rPr>
              <a:t>,</a:t>
            </a:r>
            <a:r>
              <a:rPr sz="2000" spc="-10" dirty="0">
                <a:solidFill>
                  <a:srgbClr val="C00000"/>
                </a:solidFill>
                <a:latin typeface="Trebuchet MSSans MS"/>
                <a:cs typeface="Comic Sans MS"/>
              </a:rPr>
              <a:t> predicated)</a:t>
            </a:r>
            <a:endParaRPr sz="2000" dirty="0">
              <a:latin typeface="Trebuchet MSSans MS"/>
              <a:cs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81000"/>
            <a:ext cx="6233160" cy="7135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Sans MS"/>
                <a:cs typeface="Comic Sans MS"/>
              </a:rPr>
              <a:t>comparing</a:t>
            </a:r>
            <a:r>
              <a:rPr sz="2400" spc="-3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results</a:t>
            </a:r>
            <a:r>
              <a:rPr sz="2400" spc="-3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of</a:t>
            </a:r>
            <a:r>
              <a:rPr sz="2400" spc="-2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different</a:t>
            </a:r>
            <a:r>
              <a:rPr sz="2400" spc="-2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learning</a:t>
            </a:r>
            <a:r>
              <a:rPr sz="2400" spc="-10" dirty="0">
                <a:latin typeface="Trebuchet MSSans MS"/>
                <a:cs typeface="Comic Sans MS"/>
              </a:rPr>
              <a:t> rates.</a:t>
            </a:r>
            <a:endParaRPr sz="2400" dirty="0">
              <a:latin typeface="Trebuchet MSSans MS"/>
              <a:cs typeface="Comic Sans MS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rebuchet MSSans MS"/>
                <a:cs typeface="Comic Sans MS"/>
              </a:rPr>
              <a:t>Did</a:t>
            </a:r>
            <a:r>
              <a:rPr sz="2400" spc="-3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you</a:t>
            </a:r>
            <a:r>
              <a:rPr sz="2400" spc="-2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see any</a:t>
            </a:r>
            <a:r>
              <a:rPr sz="2400" spc="-1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difference</a:t>
            </a:r>
            <a:r>
              <a:rPr sz="2400" spc="-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in</a:t>
            </a:r>
            <a:r>
              <a:rPr sz="2400" spc="-1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the</a:t>
            </a:r>
            <a:r>
              <a:rPr sz="2400" spc="-2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results</a:t>
            </a:r>
            <a:r>
              <a:rPr sz="2400" spc="-20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when </a:t>
            </a:r>
            <a:r>
              <a:rPr sz="2400" spc="-10" dirty="0">
                <a:latin typeface="Trebuchet MSSans MS"/>
                <a:cs typeface="Comic Sans MS"/>
              </a:rPr>
              <a:t>using </a:t>
            </a:r>
            <a:r>
              <a:rPr sz="2400" dirty="0">
                <a:latin typeface="Trebuchet MSSans MS"/>
                <a:cs typeface="Comic Sans MS"/>
              </a:rPr>
              <a:t>different</a:t>
            </a:r>
            <a:r>
              <a:rPr sz="2400" spc="-55" dirty="0">
                <a:latin typeface="Trebuchet MSSans MS"/>
                <a:cs typeface="Comic Sans MS"/>
              </a:rPr>
              <a:t> </a:t>
            </a:r>
            <a:r>
              <a:rPr sz="2400" dirty="0">
                <a:latin typeface="Trebuchet MSSans MS"/>
                <a:cs typeface="Comic Sans MS"/>
              </a:rPr>
              <a:t>learning</a:t>
            </a:r>
            <a:r>
              <a:rPr sz="2400" spc="-45" dirty="0">
                <a:latin typeface="Trebuchet MSSans MS"/>
                <a:cs typeface="Comic Sans MS"/>
              </a:rPr>
              <a:t> </a:t>
            </a:r>
            <a:r>
              <a:rPr sz="2400" spc="-10" dirty="0">
                <a:latin typeface="Trebuchet MSSans MS"/>
                <a:cs typeface="Comic Sans MS"/>
              </a:rPr>
              <a:t>rates?</a:t>
            </a:r>
            <a:endParaRPr sz="2400" dirty="0">
              <a:latin typeface="Trebuchet MSSans MS"/>
              <a:cs typeface="Comic Sans MS"/>
            </a:endParaRPr>
          </a:p>
          <a:p>
            <a:pPr marL="12700" marR="13970">
              <a:lnSpc>
                <a:spcPct val="100000"/>
              </a:lnSpc>
              <a:spcBef>
                <a:spcPts val="1270"/>
              </a:spcBef>
            </a:pP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When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comparing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results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of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different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learning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rates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(0.001,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0.01,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0.1),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observed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that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difference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in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accuracy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not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significant.</a:t>
            </a:r>
            <a:r>
              <a:rPr sz="2000" spc="-5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However,</a:t>
            </a:r>
            <a:r>
              <a:rPr sz="20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confusion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matrix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shows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that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learning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rate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of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0.1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results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in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less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confusion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between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numbers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compared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to</a:t>
            </a:r>
            <a:r>
              <a:rPr sz="2000" spc="-6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0.001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0.01.</a:t>
            </a:r>
            <a:endParaRPr sz="2000" dirty="0">
              <a:latin typeface="Trebuchet MSSans MS"/>
              <a:cs typeface="Comic Sans MS"/>
            </a:endParaRPr>
          </a:p>
          <a:p>
            <a:pPr marL="12700" marR="19812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This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suggests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that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larger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learning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rate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(0.1)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updates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weights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more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effectively,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reducing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classification errors.</a:t>
            </a:r>
            <a:endParaRPr sz="2000" dirty="0">
              <a:latin typeface="Trebuchet MSSans MS"/>
              <a:cs typeface="Comic Sans MS"/>
            </a:endParaRPr>
          </a:p>
          <a:p>
            <a:pPr marL="12700" marR="9525">
              <a:lnSpc>
                <a:spcPct val="100000"/>
              </a:lnSpc>
            </a:pP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That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said,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am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not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certain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if</a:t>
            </a:r>
            <a:r>
              <a:rPr sz="20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0.1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best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choice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due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to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small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dataset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used</a:t>
            </a:r>
            <a:r>
              <a:rPr sz="20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in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experiment.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more</a:t>
            </a:r>
            <a:r>
              <a:rPr sz="2000" spc="50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data,</a:t>
            </a:r>
            <a:r>
              <a:rPr sz="2000" spc="-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the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results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might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differ,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another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learning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rate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(such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as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0.15)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could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perform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better.</a:t>
            </a:r>
            <a:endParaRPr sz="2000" dirty="0">
              <a:latin typeface="Trebuchet MSSans MS"/>
              <a:cs typeface="Comic Sans MS"/>
            </a:endParaRPr>
          </a:p>
          <a:p>
            <a:pPr marL="12700" marR="178435">
              <a:lnSpc>
                <a:spcPct val="100000"/>
              </a:lnSpc>
            </a:pP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To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make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more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informed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decision,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suggest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testing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the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model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on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larger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dataset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using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techniques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such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as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cross-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validation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learning</a:t>
            </a:r>
            <a:r>
              <a:rPr sz="2000" spc="-8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curve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analysis.</a:t>
            </a:r>
            <a:endParaRPr sz="2000" dirty="0">
              <a:latin typeface="Trebuchet MSSans MS"/>
              <a:cs typeface="Comic Sans MS"/>
            </a:endParaRPr>
          </a:p>
          <a:p>
            <a:pPr marL="12700" marR="34925">
              <a:lnSpc>
                <a:spcPct val="100000"/>
              </a:lnSpc>
            </a:pP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Additionally,</a:t>
            </a:r>
            <a:r>
              <a:rPr sz="2000" spc="-5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experimenting</a:t>
            </a:r>
            <a:r>
              <a:rPr sz="2000" spc="-7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with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intermediate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learning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rates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(such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as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0.05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or</a:t>
            </a:r>
            <a:r>
              <a:rPr sz="2000" spc="-3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0.07)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could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help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determine</a:t>
            </a:r>
            <a:r>
              <a:rPr sz="2000" spc="-4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if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there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is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learning</a:t>
            </a:r>
            <a:r>
              <a:rPr sz="2000" spc="-5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rate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that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provides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</a:t>
            </a:r>
            <a:r>
              <a:rPr sz="2000" spc="-1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better</a:t>
            </a:r>
            <a:r>
              <a:rPr sz="2000" spc="-2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balance</a:t>
            </a:r>
            <a:r>
              <a:rPr sz="2000" spc="-40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between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speed</a:t>
            </a:r>
            <a:r>
              <a:rPr sz="2000" spc="-2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dirty="0">
                <a:solidFill>
                  <a:srgbClr val="4471C4"/>
                </a:solidFill>
                <a:latin typeface="Trebuchet MSSans MS"/>
                <a:cs typeface="Comic Sans MS"/>
              </a:rPr>
              <a:t>and</a:t>
            </a:r>
            <a:r>
              <a:rPr sz="2000" spc="-35" dirty="0">
                <a:solidFill>
                  <a:srgbClr val="4471C4"/>
                </a:solidFill>
                <a:latin typeface="Trebuchet MSSans MS"/>
                <a:cs typeface="Comic Sans MS"/>
              </a:rPr>
              <a:t> </a:t>
            </a:r>
            <a:r>
              <a:rPr sz="2000" spc="-10" dirty="0">
                <a:solidFill>
                  <a:srgbClr val="4471C4"/>
                </a:solidFill>
                <a:latin typeface="Trebuchet MSSans MS"/>
                <a:cs typeface="Comic Sans MS"/>
              </a:rPr>
              <a:t>accuracy.</a:t>
            </a:r>
            <a:endParaRPr sz="2000" dirty="0">
              <a:latin typeface="Trebuchet MSSans MS"/>
              <a:cs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797</Words>
  <Application>Microsoft Office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 MT</vt:lpstr>
      <vt:lpstr>Calibri</vt:lpstr>
      <vt:lpstr>Consolas</vt:lpstr>
      <vt:lpstr>Trebuchet MS</vt:lpstr>
      <vt:lpstr>Trebuchet MSSans MS</vt:lpstr>
      <vt:lpstr>Office Theme</vt:lpstr>
      <vt:lpstr>Report  of  Perceptrons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Shaima Nabeel M Albokhari</dc:creator>
  <cp:lastModifiedBy>Shaima Albokhari</cp:lastModifiedBy>
  <cp:revision>2</cp:revision>
  <dcterms:created xsi:type="dcterms:W3CDTF">2026-10-01T01:12:11Z</dcterms:created>
  <dcterms:modified xsi:type="dcterms:W3CDTF">2026-10-01T01:21:05Z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2025-02-28T00:00:00Z</vt:filetime>
  </property>
  <property fmtid="{D5CDD505-2E9C-101B-9397-08002B2CF9AE}" pid="4" name="Creator">
    <vt:lpwstr>Microsoft® PowerPoint® لبرنامج Office 365</vt:lpwstr>
  </property>
  <property fmtid="{D5CDD505-2E9C-101B-9397-08002B2CF9AE}" pid="5" name="LastSaved">
    <vt:filetime>2026-10-01T00:00:00Z</vt:filetime>
  </property>
  <property fmtid="{D5CDD505-2E9C-101B-9397-08002B2CF9AE}" pid="6" name="Producer">
    <vt:lpwstr>Microsoft® PowerPoint® لبرنامج Office 365</vt:lpwstr>
  </property>
</Properties>
</file>